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EFE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4EFE8"/>
                </a:solidFill>
                <a:latin typeface="Calibri"/>
              </a:rPr>
              <a:t>Days of warning before landfall (6th storm, Ditwah, missed)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before landfall</c:v>
                </c:pt>
              </c:strCache>
            </c:strRef>
          </c:tx>
          <c:spPr>
            <a:solidFill>
              <a:srgbClr val="F07A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EFE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Fengal</c:v>
                  </c:pt>
                  <c:pt idx="1">
                    <c:v>Remal</c:v>
                  </c:pt>
                  <c:pt idx="2">
                    <c:v>Montha</c:v>
                  </c:pt>
                  <c:pt idx="3">
                    <c:v>Dana</c:v>
                  </c:pt>
                  <c:pt idx="4">
                    <c:v>ONE-26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10.8</c:v>
                </c:pt>
                <c:pt idx="1">
                  <c:v>9.6</c:v>
                </c:pt>
                <c:pt idx="2">
                  <c:v>7.1</c:v>
                </c:pt>
                <c:pt idx="3">
                  <c:v>7</c:v>
                </c:pt>
                <c:pt idx="4">
                  <c:v>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4EFE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3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Pralay Kavach means "shield against the deluge". One line: we take a cyclone from the first forecast to people in shelters, with Gemini doing the reading, writing and talking, and every number checked against what really happened in Cyclone Fani.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Forecasting is not the gap any more: IMD tracked Fani days ahead. The gap is the manual last mile in the district control room, and knowing afterwards where help is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flow for the control room, one helper for the resident. Walk the five steps; each is a screen in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detector was tuned on 2024 only and scored on 2025-26, which it never saw, using forecasts as they were issued. Ditwah was missed, and we say so. Six storms is a small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Gemini agent. It reads the bulletin text and a MODIS satellite image together (multimodal), runs our physical models, and only uses numbers the models give it. Each of the six steps streams to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audiences. The officer gets a draft in four languages with back-translations to check, and two people must approve. The resident gets a call, the alert read aloud, their own shelter, and Sahayak, which answers in six languages and can file an 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checked ourselves against what really happened in Fani. The evacuation estimate is close to the real figure. The waterlogging layer is 5.4 times better than chance on held-out areas. Surge cannot be checked with radar because the water drained before the satellite passed, and the app says so instead of showing a fake 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in one Google Cloud project. Cloud Run hosts the API and web app. Gemini does all language and image reasoning through one function with timeouts, backup models and a rule-based fallback. Earth Engine produces the radar flood map and waterlogging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benefits, and why this travels. Nothing in the pipeline is Odisha-specific: all inputs are global datasets, and Gemini handles local languages without new templates.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a pilot with one coastal district before the next cyclone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niyathnair-Documents-GoogleHck/095b6b68-a305-4c18-a6d5-817928df158c/scratchpad/deck/shots/l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0"/>
            <a:ext cx="652241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669280" y="0"/>
            <a:ext cx="1463040" cy="6858000"/>
          </a:xfrm>
          <a:prstGeom prst="rect">
            <a:avLst/>
          </a:prstGeom>
          <a:solidFill>
            <a:srgbClr val="0B131C">
              <a:alpha val="75000"/>
            </a:srgbClr>
          </a:solidFill>
          <a:ln w="12700">
            <a:solidFill>
              <a:srgbClr val="0B131C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48640" y="731520"/>
            <a:ext cx="822960" cy="822960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70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80314" y="863194"/>
            <a:ext cx="559613" cy="559613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55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11987" y="994867"/>
            <a:ext cx="296266" cy="296266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40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18972" y="1101852"/>
            <a:ext cx="82296" cy="82296"/>
          </a:xfrm>
          <a:prstGeom prst="ellipse">
            <a:avLst/>
          </a:prstGeom>
          <a:solidFill>
            <a:srgbClr val="F07A45"/>
          </a:solidFill>
          <a:ln w="12700">
            <a:solidFill>
              <a:srgbClr val="F07A4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192024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Pralay Kavach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880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shield against the deluge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6576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cyclone early warning and anticipatory action for India's east coast: from the first forecast to families in shelters.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5394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AI: Code for Communities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track  ·  Gemini  ·  Earth Engine  ·  Cloud Run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Forecasts got better. </a:t>
            </a:r>
            <a:pPr indent="0" marL="0">
              <a:buNone/>
            </a:pPr>
            <a:r>
              <a:rPr lang="en-US" sz="36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mile didn't.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3931920" cy="4206240"/>
          </a:xfrm>
          <a:prstGeom prst="roundRect">
            <a:avLst>
              <a:gd name="adj" fmla="val 2791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 Fani, Odisha, 3 May 2019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9748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 km/h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1071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landfall near Puri: an extremely severe cyclonic storm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605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6FD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~12 lakh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8737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evacuated by the Odisha government, a massive, largely manual effort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937760" y="2057400"/>
            <a:ext cx="457200" cy="457200"/>
          </a:xfrm>
          <a:prstGeom prst="ellipse">
            <a:avLst/>
          </a:prstGeom>
          <a:solidFill>
            <a:srgbClr val="F07A45"/>
          </a:solidFill>
          <a:ln w="12700">
            <a:solidFill>
              <a:srgbClr val="F07A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623560" y="2011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must move?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2377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Surge, wind and population are separate maps; officers merge them by hand under time pressure.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937760" y="3127248"/>
            <a:ext cx="457200" cy="457200"/>
          </a:xfrm>
          <a:prstGeom prst="ellipse">
            <a:avLst/>
          </a:prstGeom>
          <a:solidFill>
            <a:srgbClr val="F07A45"/>
          </a:solidFill>
          <a:ln w="12700">
            <a:solidFill>
              <a:srgbClr val="F07A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623560" y="30815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everyone in their language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344728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Advisories in Odia, Telugu, Bengali and English, written, checked and approved at 2 a.m.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937760" y="4197096"/>
            <a:ext cx="457200" cy="457200"/>
          </a:xfrm>
          <a:prstGeom prst="ellipse">
            <a:avLst/>
          </a:prstGeom>
          <a:solidFill>
            <a:srgbClr val="F07A45"/>
          </a:solidFill>
          <a:ln w="12700">
            <a:solidFill>
              <a:srgbClr val="F07A4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3776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623560" y="415137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people, not just phones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623560" y="45171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need their own shelter, a safe route and someone to ask, in their language.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937760" y="5266944"/>
            <a:ext cx="457200" cy="457200"/>
          </a:xfrm>
          <a:prstGeom prst="ellipse">
            <a:avLst/>
          </a:prstGeom>
          <a:solidFill>
            <a:srgbClr val="F07A45"/>
          </a:solidFill>
          <a:ln w="12700">
            <a:solidFill>
              <a:srgbClr val="F07A4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3776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623560" y="522122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water actually go?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623560" y="558698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and insurance need the real flood footprint, days before surveys finish.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 from forecast to </a:t>
            </a:r>
            <a:pPr indent="0" marL="0">
              <a:buNone/>
            </a:pPr>
            <a:r>
              <a:rPr lang="en-US" sz="36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shelter.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4884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5528" y="2395728"/>
            <a:ext cx="694944" cy="694944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7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06719" y="2506919"/>
            <a:ext cx="472562" cy="472562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5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17910" y="2618110"/>
            <a:ext cx="250180" cy="250180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4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08253" y="2708453"/>
            <a:ext cx="69494" cy="69494"/>
          </a:xfrm>
          <a:prstGeom prst="ellipse">
            <a:avLst/>
          </a:prstGeom>
          <a:solidFill>
            <a:srgbClr val="F07A45"/>
          </a:solidFill>
          <a:ln w="12700">
            <a:solidFill>
              <a:srgbClr val="F07A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61683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8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37560"/>
            <a:ext cx="15788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931920"/>
            <a:ext cx="153308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wind, satellites and a forming-storm detector over the Bay, every day.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813243" y="214884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60131" y="2395728"/>
            <a:ext cx="694944" cy="694944"/>
          </a:xfrm>
          <a:prstGeom prst="ellipse">
            <a:avLst/>
          </a:prstGeom>
          <a:solidFill>
            <a:srgbClr val="6FD3FF">
              <a:alpha val="0"/>
            </a:srgbClr>
          </a:solidFill>
          <a:ln w="15875">
            <a:solidFill>
              <a:srgbClr val="6FD3FF">
                <a:alpha val="7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71322" y="2506919"/>
            <a:ext cx="472562" cy="472562"/>
          </a:xfrm>
          <a:prstGeom prst="ellipse">
            <a:avLst/>
          </a:prstGeom>
          <a:solidFill>
            <a:srgbClr val="6FD3FF">
              <a:alpha val="0"/>
            </a:srgbClr>
          </a:solidFill>
          <a:ln w="15875">
            <a:solidFill>
              <a:srgbClr val="6FD3FF">
                <a:alpha val="5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82513" y="2618110"/>
            <a:ext cx="250180" cy="250180"/>
          </a:xfrm>
          <a:prstGeom prst="ellipse">
            <a:avLst/>
          </a:prstGeom>
          <a:solidFill>
            <a:srgbClr val="6FD3FF">
              <a:alpha val="0"/>
            </a:srgbClr>
          </a:solidFill>
          <a:ln w="15875">
            <a:solidFill>
              <a:srgbClr val="6FD3FF">
                <a:alpha val="4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72856" y="2708453"/>
            <a:ext cx="69494" cy="69494"/>
          </a:xfrm>
          <a:prstGeom prst="ellipse">
            <a:avLst/>
          </a:prstGeom>
          <a:solidFill>
            <a:srgbClr val="6FD3FF"/>
          </a:solidFill>
          <a:ln w="12700">
            <a:solidFill>
              <a:srgbClr val="6FD3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6286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8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087563" y="3337560"/>
            <a:ext cx="15788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3087563" y="3931920"/>
            <a:ext cx="153308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 surge, wind and waterlogging on real terrain: who and what is exposed.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77846" y="214884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1B2B3D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24734" y="2395728"/>
            <a:ext cx="694944" cy="694944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7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35925" y="2506919"/>
            <a:ext cx="472562" cy="472562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5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47116" y="2618110"/>
            <a:ext cx="250180" cy="250180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4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37459" y="2708453"/>
            <a:ext cx="69494" cy="69494"/>
          </a:xfrm>
          <a:prstGeom prst="ellipse">
            <a:avLst/>
          </a:prstGeom>
          <a:solidFill>
            <a:srgbClr val="F07A45"/>
          </a:solidFill>
          <a:ln w="12700">
            <a:solidFill>
              <a:srgbClr val="F07A4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90889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8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352166" y="3337560"/>
            <a:ext cx="15788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5352166" y="3931920"/>
            <a:ext cx="153308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Gemini agent reads the bulletin and satellite image, ranks villages and explains why.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342449" y="214884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337" y="2395728"/>
            <a:ext cx="694944" cy="694944"/>
          </a:xfrm>
          <a:prstGeom prst="ellipse">
            <a:avLst/>
          </a:prstGeom>
          <a:solidFill>
            <a:srgbClr val="6FD3FF">
              <a:alpha val="0"/>
            </a:srgbClr>
          </a:solidFill>
          <a:ln w="15875">
            <a:solidFill>
              <a:srgbClr val="6FD3FF">
                <a:alpha val="7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00528" y="2506919"/>
            <a:ext cx="472562" cy="472562"/>
          </a:xfrm>
          <a:prstGeom prst="ellipse">
            <a:avLst/>
          </a:prstGeom>
          <a:solidFill>
            <a:srgbClr val="6FD3FF">
              <a:alpha val="0"/>
            </a:srgbClr>
          </a:solidFill>
          <a:ln w="15875">
            <a:solidFill>
              <a:srgbClr val="6FD3FF">
                <a:alpha val="55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11719" y="2618110"/>
            <a:ext cx="250180" cy="250180"/>
          </a:xfrm>
          <a:prstGeom prst="ellipse">
            <a:avLst/>
          </a:prstGeom>
          <a:solidFill>
            <a:srgbClr val="6FD3FF">
              <a:alpha val="0"/>
            </a:srgbClr>
          </a:solidFill>
          <a:ln w="15875">
            <a:solidFill>
              <a:srgbClr val="6FD3FF">
                <a:alpha val="4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02062" y="2708453"/>
            <a:ext cx="69494" cy="69494"/>
          </a:xfrm>
          <a:prstGeom prst="ellipse">
            <a:avLst/>
          </a:prstGeom>
          <a:solidFill>
            <a:srgbClr val="6FD3FF"/>
          </a:solidFill>
          <a:ln w="12700">
            <a:solidFill>
              <a:srgbClr val="6FD3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55492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8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7616769" y="3337560"/>
            <a:ext cx="15788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</a:t>
            </a:r>
            <a:endParaRPr lang="en-US" sz="2600" dirty="0"/>
          </a:p>
        </p:txBody>
      </p:sp>
      <p:sp>
        <p:nvSpPr>
          <p:cNvPr id="36" name="Text 33"/>
          <p:cNvSpPr txBox="1"/>
          <p:nvPr/>
        </p:nvSpPr>
        <p:spPr>
          <a:xfrm>
            <a:off x="7616769" y="3931920"/>
            <a:ext cx="153308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Advisories in four languages, two-person approval, CAP alerts, a voice helper on every phone.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607052" y="2148840"/>
            <a:ext cx="2036003" cy="3566160"/>
          </a:xfrm>
          <a:prstGeom prst="roundRect">
            <a:avLst>
              <a:gd name="adj" fmla="val 5389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853940" y="2395728"/>
            <a:ext cx="694944" cy="694944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7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965131" y="2506919"/>
            <a:ext cx="472562" cy="472562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55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076322" y="2618110"/>
            <a:ext cx="250180" cy="250180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4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166665" y="2708453"/>
            <a:ext cx="69494" cy="69494"/>
          </a:xfrm>
          <a:prstGeom prst="ellipse">
            <a:avLst/>
          </a:prstGeom>
          <a:solidFill>
            <a:srgbClr val="F07A45"/>
          </a:solidFill>
          <a:ln w="12700">
            <a:solidFill>
              <a:srgbClr val="F07A4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0820095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8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9881372" y="3337560"/>
            <a:ext cx="15788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2600" dirty="0"/>
          </a:p>
        </p:txBody>
      </p:sp>
      <p:sp>
        <p:nvSpPr>
          <p:cNvPr id="44" name="Text 41"/>
          <p:cNvSpPr txBox="1"/>
          <p:nvPr/>
        </p:nvSpPr>
        <p:spPr>
          <a:xfrm>
            <a:off x="9881372" y="3931920"/>
            <a:ext cx="1533083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radar shows where water stood; relief goes there first; parametric payouts trigger.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powers Plan, Warn (advisories, voice helper) and photo checks. Earth Engine powers Assess and Verify.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WATCH: EVERY DAY, NOT JUST IN A DISASTER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Spots forming storms a week out, </a:t>
            </a:r>
            <a:pPr indent="0" marL="0">
              <a:buNone/>
            </a:pPr>
            <a:r>
              <a:rPr lang="en-US" sz="32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crying wolf.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30352" y="1810512"/>
            <a:ext cx="5797296" cy="3282696"/>
          </a:xfrm>
          <a:prstGeom prst="rect">
            <a:avLst/>
          </a:prstGeom>
          <a:solidFill>
            <a:srgbClr val="2A3B4F"/>
          </a:solidFill>
          <a:ln w="12700">
            <a:solidFill>
              <a:srgbClr val="2A3B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private/tmp/claude-501/-Users-niyathnair-Documents-GoogleHck/095b6b68-a305-4c18-a6d5-817928df158c/scratchpad/deck/shots/li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828800"/>
            <a:ext cx="5760720" cy="32461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212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GFS wind flow, Himawari clouds, GPM rain, GDACS storms and a plain-language outlook for any place.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675120" y="18288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DB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7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6675120" y="25420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on held-out 2025–26 (first version: 18 of 34)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549640" y="1828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6FD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6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8549640" y="25420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storms spotted before landfall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0332720" y="18288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 d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10332720" y="25420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warning lead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583680" y="3429000"/>
          <a:ext cx="51206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A GEMINI AGENT IN THE CONTROL ROOM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moves first, </a:t>
            </a:r>
            <a:pPr indent="0" marL="0">
              <a:buNone/>
            </a:pPr>
            <a:r>
              <a:rPr lang="en-US" sz="36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why.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736592" y="1810512"/>
            <a:ext cx="6940296" cy="3922776"/>
          </a:xfrm>
          <a:prstGeom prst="rect">
            <a:avLst/>
          </a:prstGeom>
          <a:solidFill>
            <a:srgbClr val="2A3B4F"/>
          </a:solidFill>
          <a:ln w="12700">
            <a:solidFill>
              <a:srgbClr val="2A3B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private/tmp/claude-501/-Users-niyathnair-Documents-GoogleHck/095b6b68-a305-4c18-a6d5-817928df158c/scratchpad/deck/shots/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828800"/>
            <a:ext cx="6903720" cy="3886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1874520"/>
            <a:ext cx="3931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cyclone bulletin and the satellite image together (Gemini multimodal).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on three track scenarios, wind exposure, shelters and road cut-off timing.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villages by people at risk and leave-by time, with a reason for each.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steps on screen; it may only use numbers the models produced.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breaks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is slow or down, rules take over and the screen says so.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WARN: IN EVERY LANGUAGE, TO EVERY PHONE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approval to a ringing phone in </a:t>
            </a:r>
            <a:pPr indent="0" marL="0">
              <a:buNone/>
            </a:pPr>
            <a:r>
              <a:rPr lang="en-US" sz="32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seconds.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212080" cy="4069080"/>
          </a:xfrm>
          <a:prstGeom prst="roundRect">
            <a:avLst>
              <a:gd name="adj" fmla="val 2697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6FD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control room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22960" y="2697480"/>
            <a:ext cx="329184" cy="329184"/>
          </a:xfrm>
          <a:prstGeom prst="ellipse">
            <a:avLst/>
          </a:prstGeom>
          <a:solidFill>
            <a:srgbClr val="6FD3FF"/>
          </a:solidFill>
          <a:ln w="12700">
            <a:solidFill>
              <a:srgbClr val="6FD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651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 </a:t>
            </a:r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the advisory in Odia, Telugu, Bengali and English, action first, under 60 words, only from the model facts.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3474720"/>
            <a:ext cx="329184" cy="329184"/>
          </a:xfrm>
          <a:prstGeom prst="ellipse">
            <a:avLst/>
          </a:prstGeom>
          <a:solidFill>
            <a:srgbClr val="6FD3FF"/>
          </a:solidFill>
          <a:ln w="12700">
            <a:solidFill>
              <a:srgbClr val="6FD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34290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</a:t>
            </a:r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language comes with an English back-translation so the officer can verify it.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" y="4251960"/>
            <a:ext cx="329184" cy="329184"/>
          </a:xfrm>
          <a:prstGeom prst="ellipse">
            <a:avLst/>
          </a:prstGeom>
          <a:solidFill>
            <a:srgbClr val="6FD3FF"/>
          </a:solidFill>
          <a:ln w="12700">
            <a:solidFill>
              <a:srgbClr val="6FD3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251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42062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 </a:t>
            </a:r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officer, then Relief Commissioner: two-person sign-off.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" y="5029200"/>
            <a:ext cx="329184" cy="329184"/>
          </a:xfrm>
          <a:prstGeom prst="ellipse">
            <a:avLst/>
          </a:prstGeom>
          <a:solidFill>
            <a:srgbClr val="6FD3FF"/>
          </a:solidFill>
          <a:ln w="12700">
            <a:solidFill>
              <a:srgbClr val="6FD3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5029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49834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 </a:t>
            </a:r>
            <a:pPr indent="0" marL="0">
              <a:buNone/>
            </a:pPr>
            <a:r>
              <a:rPr lang="en-US" sz="13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CAP 1.2 alert; the phone rings within seconds.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062472" y="1810512"/>
            <a:ext cx="1938528" cy="4105656"/>
          </a:xfrm>
          <a:prstGeom prst="rect">
            <a:avLst/>
          </a:prstGeom>
          <a:solidFill>
            <a:srgbClr val="2A3B4F"/>
          </a:solidFill>
          <a:ln w="12700">
            <a:solidFill>
              <a:srgbClr val="2A3B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20" name="Image 0" descr="/private/tmp/claude-501/-Users-niyathnair-Documents-GoogleHck/095b6b68-a305-4c18-a6d5-817928df158c/scratchpad/deck/shots/pho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0" y="1828800"/>
            <a:ext cx="1901952" cy="406908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8275320" y="1828800"/>
            <a:ext cx="3383280" cy="4069080"/>
          </a:xfrm>
          <a:prstGeom prst="roundRect">
            <a:avLst>
              <a:gd name="adj" fmla="val 3243"/>
            </a:avLst>
          </a:prstGeom>
          <a:solidFill>
            <a:srgbClr val="1B2B3D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54964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Sahayak</a:t>
            </a:r>
            <a:endParaRPr lang="en-US" sz="2400" dirty="0"/>
          </a:p>
        </p:txBody>
      </p:sp>
      <p:sp>
        <p:nvSpPr>
          <p:cNvPr id="23" name="Text 19"/>
          <p:cNvSpPr txBox="1"/>
          <p:nvPr/>
        </p:nvSpPr>
        <p:spPr>
          <a:xfrm>
            <a:off x="8549640" y="2468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helper on the resident's phone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8549640" y="292608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languages,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aloud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person's own alert, shelter and route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SOS and water reports that reroute others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 code: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"Call 112" first on danger words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CHECKED AGAINST CYCLONE FANI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water </a:t>
            </a:r>
            <a:pPr indent="0" marL="0">
              <a:buNone/>
            </a:pPr>
            <a:r>
              <a:rPr lang="en-US" sz="36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stood.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102352" y="1810512"/>
            <a:ext cx="6574536" cy="3712464"/>
          </a:xfrm>
          <a:prstGeom prst="rect">
            <a:avLst/>
          </a:prstGeom>
          <a:solidFill>
            <a:srgbClr val="2A3B4F"/>
          </a:solidFill>
          <a:ln w="12700">
            <a:solidFill>
              <a:srgbClr val="2A3B4F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45000"/>
              </a:srgbClr>
            </a:outerShdw>
          </a:effectLst>
        </p:spPr>
      </p:sp>
      <p:pic>
        <p:nvPicPr>
          <p:cNvPr id="6" name="Image 0" descr="/private/tmp/claude-501/-Users-niyathnair-Documents-GoogleHck/095b6b68-a305-4c18-a6d5-817928df158c/scratchpad/deck/shots/verif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828800"/>
            <a:ext cx="6537960" cy="36758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82880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" y="1965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6FD3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5.4×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791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chance: waterlogging forecast vs Sentinel-1 radar, on areas it was not fitted to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29184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34290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 vs ~12 lakh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1422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to evacuate: our model vs what Odisha actually moved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75488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4846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limits. </a:t>
            </a:r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drained before the radar pass, so it is not scored.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120640" y="562356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list and parametric payouts come from the same radar map.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</a:t>
            </a:r>
            <a:pPr indent="0" marL="0">
              <a:buNone/>
            </a:pPr>
            <a:r>
              <a:rPr lang="en-US" sz="36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Cloud and Gemini.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2130"/>
          </a:solidFill>
          <a:ln w="19050">
            <a:solidFill>
              <a:srgbClr val="6FD3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21945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room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officers, SDMA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2130"/>
          </a:solidFill>
          <a:ln w="19050">
            <a:solidFill>
              <a:srgbClr val="6FD3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840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phone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Sahayak voice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49040" y="1783080"/>
            <a:ext cx="7863840" cy="4206240"/>
          </a:xfrm>
          <a:prstGeom prst="roundRect">
            <a:avLst>
              <a:gd name="adj" fmla="val 3261"/>
            </a:avLst>
          </a:prstGeom>
          <a:solidFill>
            <a:srgbClr val="0F1B28"/>
          </a:solidFill>
          <a:ln w="12700">
            <a:solidFill>
              <a:srgbClr val="F07A45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39776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project: pralay-kavach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0" y="2788920"/>
            <a:ext cx="2834640" cy="1417320"/>
          </a:xfrm>
          <a:prstGeom prst="roundRect">
            <a:avLst>
              <a:gd name="adj" fmla="val 6452"/>
            </a:avLst>
          </a:prstGeom>
          <a:solidFill>
            <a:srgbClr val="1B2B3D"/>
          </a:solidFill>
          <a:ln w="19050">
            <a:solidFill>
              <a:srgbClr val="F07A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0" y="28803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API + React web app in one container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0" y="2331720"/>
            <a:ext cx="3108960" cy="1417320"/>
          </a:xfrm>
          <a:prstGeom prst="roundRect">
            <a:avLst>
              <a:gd name="adj" fmla="val 6452"/>
            </a:avLst>
          </a:prstGeom>
          <a:solidFill>
            <a:srgbClr val="1B2B3D"/>
          </a:solidFill>
          <a:ln w="19050">
            <a:solidFill>
              <a:srgbClr val="F07A4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24231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Flash; 3.7 / 3.5 Flash backups; JSON out, rules fallback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29600" y="4160520"/>
            <a:ext cx="3108960" cy="1417320"/>
          </a:xfrm>
          <a:prstGeom prst="roundRect">
            <a:avLst>
              <a:gd name="adj" fmla="val 6452"/>
            </a:avLst>
          </a:prstGeom>
          <a:solidFill>
            <a:srgbClr val="1B2B3D"/>
          </a:solidFill>
          <a:ln w="19050">
            <a:solidFill>
              <a:srgbClr val="F07A4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42519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Engine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Sentinel-1 radar, GPM IMERG rain, MERIT Hydro, JRC water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017520" y="2651760"/>
            <a:ext cx="1097280" cy="640080"/>
          </a:xfrm>
          <a:prstGeom prst="line">
            <a:avLst/>
          </a:prstGeom>
          <a:noFill/>
          <a:ln w="19050">
            <a:solidFill>
              <a:srgbClr val="9AA8B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V="1">
            <a:off x="3017520" y="3749040"/>
            <a:ext cx="1097280" cy="548640"/>
          </a:xfrm>
          <a:prstGeom prst="line">
            <a:avLst/>
          </a:prstGeom>
          <a:noFill/>
          <a:ln w="19050">
            <a:solidFill>
              <a:srgbClr val="9AA8B6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6949440" y="3017520"/>
            <a:ext cx="1280160" cy="228600"/>
          </a:xfrm>
          <a:prstGeom prst="line">
            <a:avLst/>
          </a:prstGeom>
          <a:noFill/>
          <a:ln w="19050">
            <a:solidFill>
              <a:srgbClr val="9AA8B6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6949440" y="2697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image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 flipH="1" flipV="1">
            <a:off x="6949440" y="3931920"/>
            <a:ext cx="1280160" cy="914400"/>
          </a:xfrm>
          <a:prstGeom prst="line">
            <a:avLst/>
          </a:prstGeom>
          <a:noFill/>
          <a:ln w="19050">
            <a:solidFill>
              <a:srgbClr val="9AA8B6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6949440" y="3611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layers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0" y="466344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142130"/>
          </a:solidFill>
          <a:ln w="19050">
            <a:solidFill>
              <a:srgbClr val="9AA8B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297680" y="4754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IBTrACS, GFS + ECMWF, NASA GIBS, GDACS, WorldPop, OSM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 flipV="1">
            <a:off x="5532120" y="4206240"/>
            <a:ext cx="914" cy="457200"/>
          </a:xfrm>
          <a:prstGeom prst="line">
            <a:avLst/>
          </a:prstGeom>
          <a:noFill/>
          <a:ln w="19050">
            <a:solidFill>
              <a:srgbClr val="9AA8B6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Gemini: agent planning (multimodal) · multilingual advisories · Sahayak voice helper · flood photo checks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AND SCALE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one coast, </a:t>
            </a:r>
            <a:pPr indent="0" marL="0">
              <a:buNone/>
            </a:pPr>
            <a:r>
              <a:rPr lang="en-US" sz="36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others.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359152"/>
            <a:ext cx="457200" cy="457200"/>
          </a:xfrm>
          <a:prstGeom prst="ellipse">
            <a:avLst/>
          </a:prstGeom>
          <a:solidFill>
            <a:srgbClr val="F07A45"/>
          </a:solidFill>
          <a:ln w="12700">
            <a:solidFill>
              <a:srgbClr val="F07A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0876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2514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in their language, their own shelter and route, and someone to ask for help.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685032"/>
            <a:ext cx="457200" cy="457200"/>
          </a:xfrm>
          <a:prstGeom prst="ellipse">
            <a:avLst/>
          </a:prstGeom>
          <a:solidFill>
            <a:srgbClr val="6FD3FF"/>
          </a:solidFill>
          <a:ln w="12700">
            <a:solidFill>
              <a:srgbClr val="6FD3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0876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control rooms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508760" y="3840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on who-moves-first, advisories and sign-off, with every step logged.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66344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2130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5010912"/>
            <a:ext cx="457200" cy="457200"/>
          </a:xfrm>
          <a:prstGeom prst="ellipse">
            <a:avLst/>
          </a:prstGeom>
          <a:solidFill>
            <a:srgbClr val="3DBE8B"/>
          </a:solidFill>
          <a:ln w="12700">
            <a:solidFill>
              <a:srgbClr val="3DBE8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508760" y="4800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Relief and insurers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51663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Radar-based relief lists and parametric payouts days before ground surveys.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201168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1B2B3D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21945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pipeline, other coasts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Pradesh, West Bengal Sundarbans, Gujarat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Mozambique: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Idai, Freddy (Portuguese)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KwaZulu-Natal coast (Zulu, English)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Guangdong typhoon coast (Mandarin)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Brazil: </a:t>
            </a:r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coast, Catarina (Portuguese)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4983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global: IBTrACS, GFS/ECMWF, Copernicus, NASA, WorldPop, OSM. Change the map extent and language list.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991295" y="640080"/>
            <a:ext cx="2377440" cy="2377440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71686" y="1020470"/>
            <a:ext cx="1616659" cy="1616659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5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752076" y="1400861"/>
            <a:ext cx="855878" cy="855878"/>
          </a:xfrm>
          <a:prstGeom prst="ellipse">
            <a:avLst/>
          </a:prstGeom>
          <a:solidFill>
            <a:srgbClr val="F07A45">
              <a:alpha val="0"/>
            </a:srgbClr>
          </a:solidFill>
          <a:ln w="15875">
            <a:solidFill>
              <a:srgbClr val="F07A45">
                <a:alpha val="4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061143" y="1709928"/>
            <a:ext cx="237744" cy="237744"/>
          </a:xfrm>
          <a:prstGeom prst="ellipse">
            <a:avLst/>
          </a:prstGeom>
          <a:solidFill>
            <a:srgbClr val="F07A45"/>
          </a:solidFill>
          <a:ln w="12700">
            <a:solidFill>
              <a:srgbClr val="F07A4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4E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before the next </a:t>
            </a:r>
            <a:pPr indent="0" marL="0">
              <a:buNone/>
            </a:pPr>
            <a:r>
              <a:rPr lang="en-US" sz="3600" i="1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cyclone season.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DBE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13055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prototype: live Bay watch, Fani replay, Gemini agent, voice helper, radar checks.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3 months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322783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shelter registry (OSDMA), Google Maps Routes for real road routing, IVR and WhatsApp on the same Sahayak engine.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97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743200" y="4325112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Odisha coastal district, run alongside IMD and SDMA warnings during the season.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B2B3D"/>
          </a:solidFill>
          <a:ln w="9525">
            <a:solidFill>
              <a:srgbClr val="2235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</a:t>
            </a:r>
            <a:pPr indent="0" marL="0">
              <a:buNone/>
            </a:pPr>
            <a:r>
              <a:rPr lang="en-US" sz="1400" dirty="0">
                <a:solidFill>
                  <a:srgbClr val="F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github.com/nsquaredzz/Hackathons  (folder 2026-09-pralay-kavach-cyclone-early-warning)</a:t>
            </a:r>
            <a:pPr indent="0" marL="0">
              <a:buNone/>
            </a:pPr>
            <a:r>
              <a:rPr lang="en-US" sz="1400" i="1" dirty="0">
                <a:solidFill>
                  <a:srgbClr val="9AA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Guidance only: official warnings come from IMD and the SDMA.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Build with AI: Code for Communities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Pralay Kavach: pitch deck</dc:title>
  <dc:subject>PptxGenJS Presentation</dc:subject>
  <dc:creator>PptxGenJS</dc:creator>
  <cp:lastModifiedBy>PptxGenJS</cp:lastModifiedBy>
  <cp:revision>1</cp:revision>
  <dcterms:created xsi:type="dcterms:W3CDTF">2026-09-30T08:55:56Z</dcterms:created>
  <dcterms:modified xsi:type="dcterms:W3CDTF">2026-09-30T08:55:56Z</dcterms:modified>
</cp:coreProperties>
</file>